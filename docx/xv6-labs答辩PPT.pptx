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1" r:id="rId7"/>
  </p:sldIdLst>
  <p:sldSz cx="12192000" cy="6858000"/>
  <p:notesSz cx="6858000" cy="9144000"/>
  <p:embeddedFontLst>
    <p:embeddedFont>
      <p:font typeface="Lora"/>
      <p:regular r:id="rId11"/>
      <p:bold r:id="rId12"/>
      <p:italic r:id="rId13"/>
      <p:boldItalic r:id="rId14"/>
    </p:embeddedFont>
    <p:embeddedFont>
      <p:font typeface="Roboto" panose="02000000000000000000"/>
      <p:regular r:id="rId15"/>
      <p:bold r:id="rId16"/>
      <p:italic r:id="rId17"/>
      <p:boldItalic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开场话术：老师好，我的项目是 xv6 labs 实验 2 到实验 9。</a:t>
            </a:r>
          </a:p>
          <a:p>
            <a:r>
              <a:t>我答辩时不只展示代码，而是先跑一个短命令，让老师看到现象，再沿着内核路径解释修改点。</a:t>
            </a:r>
          </a:p>
          <a:p>
            <a:r>
              <a:t>回答问题时固定抓三件事：命令输出、代码经过哪里、关键不变量是什么。</a:t>
            </a:r>
          </a:p>
          <a:p/>
          <a:p>
            <a:r>
              <a:t>[Sources]</a:t>
            </a:r>
          </a:p>
          <a:p>
            <a:r>
              <a:t>- 本地实验报告：output/reports/9份独立实验报告_合并同测试程序版/实验2 syscall 至 实验9 mmap 实验报告.docx。</a:t>
            </a:r>
          </a:p>
          <a:p>
            <a:r>
              <a:t>- 本地项目源码与分支：syscall、pgtbl、traps、cow、net、lock、fs、mmap。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这一页不要念成口号，重点说：我把 8 个实验整理成四类，方便老师随机提问。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如果老师问具体实验，就从对应短命令切进去；如果老师问原理，就回到路径和不变量。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可说的例子：syscall 讲 a7、ecall、syscalls 表；COW 讲 PTE_COW、page fault、引用计数。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本地实验报告：output/reports/9份独立实验报告_合并同测试程序版/实验2 syscall 至 实验9 mmap 实验报告.docx。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本地项目源码与分支：syscall、pgtbl、traps、cow、net、lock、fs、mmap。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这一页是答辩节奏页，但不要让它显得像计划书。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可以说：我优先跑短测试，因为短测试能最快证明功能点；老师需要完整验证时再运行 make grade。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如果老师问为什么 make clean：避免旧 fs.img、旧目标文件或其他分支产物影响现场演示。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本地实验报告：output/reports/9份独立实验报告_合并同测试程序版/实验2 syscall 至 实验9 mmap 实验报告.docx。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本地项目源码与分支：syscall、pgtbl、traps、cow、net、lock、fs、mmap。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结尾话术：我的答辩重点不是背代码，而是把命令现象和内核机制对上。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老师问内存，就讲 PTE、page fault、引用计数、VMA；问文件/网络，就讲 bmap、symlink、E1000 ring；问并发，就讲锁粒度和统计。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最后停在这里等老师提问。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本地实验报告：output/reports/9份独立实验报告_合并同测试程序版/实验2 syscall 至 实验9 mmap 实验报告.docx。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本地项目源码与分支：syscall、pgtbl、traps、cow、net、lock、fs、mmap。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/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10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/>
      <p:sp>
        <p:nvSpPr>
          <p:cNvPr id="9" name="Text Placeholder 2"/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11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/>
          </a:p>
        </p:txBody>
      </p:sp>
      <p:sp>
        <p:nvSpPr>
          <p:cNvPr id="12" name="Text Placeholder 2"/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/>
      <p:sp>
        <p:nvSpPr>
          <p:cNvPr id="11" name="Text Placeholder 2"/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13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/>
          </a:p>
        </p:txBody>
      </p:sp>
      <p:sp>
        <p:nvSpPr>
          <p:cNvPr id="14" name="Text Placeholder 2"/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/>
      <p:sp>
        <p:nvSpPr>
          <p:cNvPr id="11" name="Text Placeholder 2"/>
          <p:cNvSpPr>
            <a:spLocks noGrp="1"/>
          </p:cNvSpPr>
          <p:nvPr>
            <p:ph idx="1" hasCustomPrompt="1"/>
          </p:nvPr>
        </p:nvSpPr>
        <p:spPr>
          <a:xfrm>
            <a:off x="393700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13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2" hasCustomPrompt="1"/>
          </p:nvPr>
        </p:nvSpPr>
        <p:spPr>
          <a:xfrm>
            <a:off x="3334966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idx="13" hasCustomPrompt="1"/>
          </p:nvPr>
        </p:nvSpPr>
        <p:spPr>
          <a:xfrm>
            <a:off x="6264413" y="2213811"/>
            <a:ext cx="2595934" cy="378058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/>
          <p:cNvSpPr>
            <a:spLocks noGrp="1"/>
          </p:cNvSpPr>
          <p:nvPr>
            <p:ph type="body" idx="14" hasCustomPrompt="1"/>
          </p:nvPr>
        </p:nvSpPr>
        <p:spPr>
          <a:xfrm>
            <a:off x="9205679" y="2213811"/>
            <a:ext cx="2595934" cy="3780589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>
              <a:buNone/>
            </a:pPr>
            <a:r>
              <a:t>Click to edit Master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/>
      <p:sp>
        <p:nvSpPr>
          <p:cNvPr id="8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9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/>
      <p:sp>
        <p:nvSpPr>
          <p:cNvPr id="7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8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6" name="Slide Number Placeholder 5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rPr/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64079" y="2031642"/>
            <a:ext cx="11063842" cy="2491490"/>
          </a:xfrm>
        </p:spPr>
        <p:txBody>
          <a:bodyPr anchor="ctr">
            <a:noAutofit/>
          </a:bodyPr>
          <a:lstStyle/>
          <a:p>
            <a:pPr algn="ctr">
              <a:lnSpc>
                <a:spcPct val="95000"/>
              </a:lnSpc>
              <a:buNone/>
              <a:defRPr sz="5400" b="0">
                <a:solidFill>
                  <a:srgbClr val="F8FAFC"/>
                </a:solidFill>
              </a:defRPr>
            </a:pPr>
            <a:r>
              <a:rPr lang="en-US" sz="5400" b="0">
                <a:solidFill>
                  <a:srgbClr val="F8FAFC"/>
                </a:solidFill>
                <a:latin typeface="Lora"/>
                <a:ea typeface="Lora"/>
                <a:cs typeface="Lora"/>
              </a:rPr>
              <a:t>9 </a:t>
            </a:r>
            <a:r>
              <a:rPr sz="5400" b="0">
                <a:solidFill>
                  <a:srgbClr val="F8FAFC"/>
                </a:solidFill>
                <a:latin typeface="Lora"/>
                <a:ea typeface="Lora"/>
                <a:cs typeface="Lora"/>
              </a:rPr>
              <a:t>个实验的现场验证</a:t>
            </a:r>
            <a:endParaRPr sz="5400" b="0">
              <a:solidFill>
                <a:srgbClr val="F8FAFC"/>
              </a:solidFill>
              <a:latin typeface="Lora"/>
              <a:ea typeface="Lora"/>
              <a:cs typeface="Lor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>
          <a:xfrm>
            <a:off x="2398999" y="5045149"/>
            <a:ext cx="7394002" cy="794439"/>
          </a:xfrm>
        </p:spPr>
        <p:txBody>
          <a:bodyPr>
            <a:normAutofit/>
          </a:bodyPr>
          <a:lstStyle/>
          <a:p>
            <a:pPr algn="ctr">
              <a:buNone/>
              <a:defRPr sz="1500">
                <a:solidFill>
                  <a:srgbClr val="8A8A8A"/>
                </a:solidFill>
              </a:defRPr>
            </a:pPr>
            <a:r>
              <a:rPr lang="zh-CN" sz="1800">
                <a:solidFill>
                  <a:srgbClr val="8A8A8A"/>
                </a:solidFill>
              </a:rPr>
              <a:t>项目托管链接：</a:t>
            </a:r>
            <a:r>
              <a:rPr lang="en-US" altLang="zh-CN" sz="1800">
                <a:solidFill>
                  <a:srgbClr val="8A8A8A"/>
                </a:solidFill>
              </a:rPr>
              <a:t>https://github.com/togetstar/xv6-labs-2025</a:t>
            </a:r>
            <a:endParaRPr lang="en-US" altLang="zh-CN" sz="1800">
              <a:solidFill>
                <a:srgbClr val="8A8A8A"/>
              </a:solidFill>
            </a:endParaRPr>
          </a:p>
        </p:txBody>
      </p:sp>
      <p:sp>
        <p:nvSpPr>
          <p:cNvPr id="6" name="Subtitle 4"/>
          <p:cNvSpPr>
            <a:spLocks noGrp="1"/>
          </p:cNvSpPr>
          <p:nvPr/>
        </p:nvSpPr>
        <p:spPr>
          <a:xfrm>
            <a:off x="3244850" y="1352742"/>
            <a:ext cx="5702300" cy="36179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725" b="1">
                <a:solidFill>
                  <a:srgbClr val="FF4B1F"/>
                </a:solidFill>
              </a:defRPr>
            </a:pPr>
            <a:r>
              <a:rPr sz="2800" b="1">
                <a:solidFill>
                  <a:srgbClr val="FF4B1F"/>
                </a:solidFill>
                <a:latin typeface="Roboto" panose="02000000000000000000"/>
                <a:ea typeface="Roboto" panose="02000000000000000000"/>
                <a:cs typeface="Roboto" panose="02000000000000000000"/>
              </a:rPr>
              <a:t>xv6 Labs 答辩</a:t>
            </a:r>
            <a:endParaRPr sz="2800" b="1">
              <a:solidFill>
                <a:srgbClr val="FF4B1F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Footer Placeholder 5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xv6 Labs Defense</a:t>
            </a:r>
            <a:endParaRPr sz="900">
              <a:solidFill>
                <a:srgbClr val="6B7280"/>
              </a:solidFill>
            </a:endParaRPr>
          </a:p>
        </p:txBody>
      </p:sp>
      <p:sp>
        <p:nvSpPr>
          <p:cNvPr id="532" name="Google Shape;532;p58"/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4" name="Google Shape;534;p58"/>
          <p:cNvSpPr>
            <a:spLocks noGrp="1"/>
          </p:cNvSpPr>
          <p:nvPr>
            <p:ph idx="4294967295"/>
          </p:nvPr>
        </p:nvSpPr>
        <p:spPr>
          <a:xfrm>
            <a:off x="1807210" y="2120900"/>
            <a:ext cx="8741410" cy="2616200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  <a:defRPr sz="1650">
                <a:solidFill>
                  <a:srgbClr val="F8FAFC"/>
                </a:solidFill>
              </a:defRPr>
            </a:pPr>
            <a:r>
              <a:rPr lang="zh-CN" altLang="en-US" sz="1650">
                <a:solidFill>
                  <a:srgbClr val="F8FAFC"/>
                </a:solidFill>
              </a:rPr>
              <a:t>1.1 基本介绍</a:t>
            </a:r>
            <a:endParaRPr lang="zh-CN" altLang="en-US" sz="1650">
              <a:solidFill>
                <a:srgbClr val="F8FAFC"/>
              </a:solidFill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  <a:defRPr sz="1650">
                <a:solidFill>
                  <a:srgbClr val="F8FAFC"/>
                </a:solidFill>
              </a:defRPr>
            </a:pPr>
            <a:r>
              <a:rPr lang="en-US" altLang="zh-CN" sz="1650">
                <a:solidFill>
                  <a:srgbClr val="F8FAFC"/>
                </a:solidFill>
              </a:rPr>
              <a:t>XV6</a:t>
            </a:r>
            <a:r>
              <a:rPr lang="zh-CN" altLang="en-US" sz="1650">
                <a:solidFill>
                  <a:srgbClr val="F8FAFC"/>
                </a:solidFill>
              </a:rPr>
              <a:t>是一个简单的、类</a:t>
            </a:r>
            <a:r>
              <a:rPr lang="en-US" altLang="zh-CN" sz="1650">
                <a:solidFill>
                  <a:srgbClr val="F8FAFC"/>
                </a:solidFill>
              </a:rPr>
              <a:t>Unix</a:t>
            </a:r>
            <a:r>
              <a:rPr lang="zh-CN" altLang="en-US" sz="1650">
                <a:solidFill>
                  <a:srgbClr val="F8FAFC"/>
                </a:solidFill>
              </a:rPr>
              <a:t>的操作系统，设计用于教学目的。它是由麻省理工学院（</a:t>
            </a:r>
            <a:r>
              <a:rPr lang="en-US" altLang="zh-CN" sz="1650">
                <a:solidFill>
                  <a:srgbClr val="F8FAFC"/>
                </a:solidFill>
              </a:rPr>
              <a:t>MIT）</a:t>
            </a:r>
            <a:r>
              <a:rPr lang="zh-CN" altLang="en-US" sz="1650">
                <a:solidFill>
                  <a:srgbClr val="F8FAFC"/>
                </a:solidFill>
              </a:rPr>
              <a:t>的计算机科学与人工智能实验室开发的一个开源项目。</a:t>
            </a:r>
            <a:r>
              <a:rPr lang="en-US" altLang="zh-CN" sz="1650">
                <a:solidFill>
                  <a:srgbClr val="F8FAFC"/>
                </a:solidFill>
              </a:rPr>
              <a:t>XV6</a:t>
            </a:r>
            <a:r>
              <a:rPr lang="zh-CN" altLang="en-US" sz="1650">
                <a:solidFill>
                  <a:srgbClr val="F8FAFC"/>
                </a:solidFill>
              </a:rPr>
              <a:t>基于第六版</a:t>
            </a:r>
            <a:r>
              <a:rPr lang="en-US" altLang="zh-CN" sz="1650">
                <a:solidFill>
                  <a:srgbClr val="F8FAFC"/>
                </a:solidFill>
              </a:rPr>
              <a:t>Unix</a:t>
            </a:r>
            <a:r>
              <a:rPr lang="zh-CN" altLang="en-US" sz="1650">
                <a:solidFill>
                  <a:srgbClr val="F8FAFC"/>
                </a:solidFill>
              </a:rPr>
              <a:t>操作系统的代码，适合在现代计算机架构上运行，以帮助学习者理解操作系统的工作原理。</a:t>
            </a:r>
            <a:endParaRPr lang="en-US" altLang="zh-CN" sz="1650">
              <a:solidFill>
                <a:srgbClr val="F8FAFC"/>
              </a:solidFill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  <a:defRPr sz="1650">
                <a:solidFill>
                  <a:srgbClr val="F8FAFC"/>
                </a:solidFill>
              </a:defRPr>
            </a:pPr>
            <a:r>
              <a:rPr lang="zh-CN" altLang="en-US" sz="1650">
                <a:solidFill>
                  <a:srgbClr val="F8FAFC"/>
                </a:solidFill>
              </a:rPr>
              <a:t>1.</a:t>
            </a:r>
            <a:r>
              <a:rPr lang="en-US" altLang="zh-CN" sz="1650">
                <a:solidFill>
                  <a:srgbClr val="F8FAFC"/>
                </a:solidFill>
              </a:rPr>
              <a:t>2</a:t>
            </a:r>
            <a:r>
              <a:rPr lang="zh-CN" altLang="en-US" sz="1650">
                <a:solidFill>
                  <a:srgbClr val="F8FAFC"/>
                </a:solidFill>
              </a:rPr>
              <a:t> 了解</a:t>
            </a:r>
            <a:r>
              <a:rPr lang="en-US" altLang="zh-CN" sz="1650">
                <a:solidFill>
                  <a:srgbClr val="F8FAFC"/>
                </a:solidFill>
              </a:rPr>
              <a:t>XV6</a:t>
            </a:r>
            <a:r>
              <a:rPr lang="zh-CN" altLang="en-US" sz="1650">
                <a:solidFill>
                  <a:srgbClr val="F8FAFC"/>
                </a:solidFill>
              </a:rPr>
              <a:t>的结构</a:t>
            </a:r>
            <a:endParaRPr lang="zh-CN" altLang="en-US" sz="1650">
              <a:solidFill>
                <a:srgbClr val="F8FAFC"/>
              </a:solidFill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  <a:defRPr sz="1650">
                <a:solidFill>
                  <a:srgbClr val="F8FAFC"/>
                </a:solidFill>
              </a:defRPr>
            </a:pPr>
            <a:r>
              <a:rPr lang="en-US" altLang="zh-CN" sz="1650">
                <a:solidFill>
                  <a:srgbClr val="F8FAFC"/>
                </a:solidFill>
              </a:rPr>
              <a:t>XV6</a:t>
            </a:r>
            <a:r>
              <a:rPr lang="zh-CN" altLang="en-US" sz="1650">
                <a:solidFill>
                  <a:srgbClr val="F8FAFC"/>
                </a:solidFill>
              </a:rPr>
              <a:t>的结构设计仿照了经典的</a:t>
            </a:r>
            <a:r>
              <a:rPr lang="en-US" altLang="zh-CN" sz="1650">
                <a:solidFill>
                  <a:srgbClr val="F8FAFC"/>
                </a:solidFill>
              </a:rPr>
              <a:t>Unix</a:t>
            </a:r>
            <a:r>
              <a:rPr lang="zh-CN" altLang="en-US" sz="1650">
                <a:solidFill>
                  <a:srgbClr val="F8FAFC"/>
                </a:solidFill>
              </a:rPr>
              <a:t>操作系统，它由多个模块组成，其中包括进程管理、文件系统、内存管理等。每个模块都相对独立，使得学习者能够逐个模块地理解并掌握操作系统的核心概念。通过深入分析</a:t>
            </a:r>
            <a:r>
              <a:rPr lang="en-US" altLang="zh-CN" sz="1650">
                <a:solidFill>
                  <a:srgbClr val="F8FAFC"/>
                </a:solidFill>
              </a:rPr>
              <a:t>XV6</a:t>
            </a:r>
            <a:r>
              <a:rPr lang="zh-CN" altLang="en-US" sz="1650">
                <a:solidFill>
                  <a:srgbClr val="F8FAFC"/>
                </a:solidFill>
              </a:rPr>
              <a:t>的内部工作机制，我们可以更清楚地了解现代操作系统的运作原理。</a:t>
            </a:r>
            <a:endParaRPr lang="zh-CN" altLang="en-US" sz="1650">
              <a:solidFill>
                <a:srgbClr val="F8FAFC"/>
              </a:solidFill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  <a:defRPr sz="1650">
                <a:solidFill>
                  <a:srgbClr val="F8FAFC"/>
                </a:solidFill>
              </a:defRPr>
            </a:pPr>
            <a:endParaRPr lang="en-US" altLang="zh-CN" sz="1650">
              <a:solidFill>
                <a:srgbClr val="F8FAFC"/>
              </a:solidFill>
            </a:endParaRPr>
          </a:p>
          <a:p>
            <a:pPr marL="0" indent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  <a:defRPr sz="1650">
                <a:solidFill>
                  <a:srgbClr val="F8FAFC"/>
                </a:solidFill>
              </a:defRPr>
            </a:pPr>
            <a:endParaRPr lang="en-US" altLang="zh-CN" sz="1650">
              <a:solidFill>
                <a:srgbClr val="F8FAFC"/>
              </a:solidFill>
            </a:endParaRPr>
          </a:p>
        </p:txBody>
      </p:sp>
      <p:sp>
        <p:nvSpPr>
          <p:cNvPr id="3" name="Subtitle 4"/>
          <p:cNvSpPr>
            <a:spLocks noGrp="1"/>
          </p:cNvSpPr>
          <p:nvPr/>
        </p:nvSpPr>
        <p:spPr>
          <a:xfrm>
            <a:off x="3244850" y="1001877"/>
            <a:ext cx="5702300" cy="361798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ctr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None/>
              <a:defRPr sz="1650">
                <a:solidFill>
                  <a:srgbClr val="F8FAFC"/>
                </a:solidFill>
              </a:defRPr>
            </a:pPr>
            <a:r>
              <a:rPr lang="en-US" altLang="zh-CN" sz="1725">
                <a:solidFill>
                  <a:srgbClr val="F8FAFC"/>
                </a:solidFill>
                <a:sym typeface="+mn-ea"/>
              </a:rPr>
              <a:t>XV6</a:t>
            </a:r>
            <a:r>
              <a:rPr lang="zh-CN" altLang="en-US" sz="1725">
                <a:solidFill>
                  <a:srgbClr val="F8FAFC"/>
                </a:solidFill>
                <a:sym typeface="+mn-ea"/>
              </a:rPr>
              <a:t>操作系统概述</a:t>
            </a:r>
            <a:endParaRPr sz="1725" b="1">
              <a:solidFill>
                <a:srgbClr val="555555"/>
              </a:solidFill>
              <a:latin typeface="Roboto" panose="02000000000000000000"/>
              <a:ea typeface="Roboto" panose="02000000000000000000"/>
              <a:cs typeface="Roboto" panose="0200000000000000000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Footer Placeholder 2"/>
          <p:cNvSpPr>
            <a:spLocks noGrp="1"/>
          </p:cNvSpPr>
          <p:nvPr>
            <p:ph type="ftr" idx="3"/>
          </p:nvPr>
        </p:nvSpPr>
        <p:spPr/>
        <p:txBody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xv6 Labs Defense</a:t>
            </a:r>
            <a:endParaRPr sz="900">
              <a:solidFill>
                <a:srgbClr val="6B7280"/>
              </a:solidFill>
            </a:endParaRPr>
          </a:p>
        </p:txBody>
      </p:sp>
      <p:sp>
        <p:nvSpPr>
          <p:cNvPr id="532" name="Google Shape;532;p58"/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531203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defRPr sz="2925" b="0">
                <a:solidFill>
                  <a:srgbClr val="F8FAFC"/>
                </a:solidFill>
              </a:defRPr>
            </a:pPr>
            <a:r>
              <a:rPr sz="2925" b="0">
                <a:solidFill>
                  <a:srgbClr val="F8FAFC"/>
                </a:solidFill>
              </a:rPr>
              <a:t>现场验证测试</a:t>
            </a:r>
            <a:endParaRPr sz="2925" b="0">
              <a:solidFill>
                <a:srgbClr val="F8FAFC"/>
              </a:solidFill>
            </a:endParaRPr>
          </a:p>
        </p:txBody>
      </p:sp>
      <p:sp>
        <p:nvSpPr>
          <p:cNvPr id="7" name="Google Shape;534;p58"/>
          <p:cNvSpPr>
            <a:spLocks noGrp="1"/>
          </p:cNvSpPr>
          <p:nvPr/>
        </p:nvSpPr>
        <p:spPr>
          <a:xfrm>
            <a:off x="393700" y="1149985"/>
            <a:ext cx="8322310" cy="1397000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 panose="020B0604020202020204"/>
              <a:buNone/>
              <a:defRPr sz="1500">
                <a:solidFill>
                  <a:srgbClr val="F8FAFC"/>
                </a:solidFill>
              </a:defRPr>
            </a:pPr>
            <a:r>
              <a:rPr sz="1500">
                <a:solidFill>
                  <a:srgbClr val="F8FAFC"/>
                </a:solidFill>
              </a:rPr>
              <a:t>先切实验分支并清理旧产物，再进入 xv6 shell 运行目标测试；完整性验证放到 make grade。</a:t>
            </a:r>
            <a:endParaRPr sz="150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Footer Placeholder 3"/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xv6 Labs Defense</a:t>
            </a:r>
            <a:endParaRPr sz="900">
              <a:solidFill>
                <a:srgbClr val="6B7280"/>
              </a:solidFill>
            </a:endParaRPr>
          </a:p>
        </p:txBody>
      </p:sp>
      <p:sp>
        <p:nvSpPr>
          <p:cNvPr id="532" name="Google Shape;532;p58"/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b">
            <a:noAutofit/>
          </a:bodyPr>
          <a:lstStyle/>
          <a:p>
            <a:fld id="{00000000-1234-1234-1234-123412341234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</a:fld>
            <a:endParaRPr>
              <a:solidFill>
                <a:schemeClr val="bg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33" name="Google Shape;533;p58"/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Autofit/>
          </a:bodyPr>
          <a:lstStyle/>
          <a:p>
            <a:pPr>
              <a:lnSpc>
                <a:spcPct val="100000"/>
              </a:lnSpc>
              <a:buNone/>
              <a:defRPr sz="2850">
                <a:solidFill>
                  <a:srgbClr val="F8FAFC"/>
                </a:solidFill>
              </a:defRPr>
            </a:pPr>
            <a:r>
              <a:rPr lang="en-US" sz="2850">
                <a:solidFill>
                  <a:srgbClr val="F8FAFC"/>
                </a:solidFill>
              </a:rPr>
              <a:t>Q&amp;A</a:t>
            </a:r>
            <a:endParaRPr lang="en-US" sz="2850">
              <a:solidFill>
                <a:srgbClr val="F8FAFC"/>
              </a:solidFill>
            </a:endParaRPr>
          </a:p>
        </p:txBody>
      </p:sp>
      <p:sp>
        <p:nvSpPr>
          <p:cNvPr id="5" name="Google Shape;534;p58"/>
          <p:cNvSpPr>
            <a:spLocks noGrp="1"/>
          </p:cNvSpPr>
          <p:nvPr/>
        </p:nvSpPr>
        <p:spPr>
          <a:xfrm>
            <a:off x="5126355" y="2730774"/>
            <a:ext cx="6308042" cy="1397001"/>
          </a:xfrm>
          <a:prstGeom prst="rect">
            <a:avLst/>
          </a:prstGeom>
        </p:spPr>
        <p:txBody>
          <a:bodyPr spcFirstLastPara="1" vert="horz" wrap="square"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8000"/>
              </a:lnSpc>
              <a:spcBef>
                <a:spcPts val="0"/>
              </a:spcBef>
              <a:spcAft>
                <a:spcPts val="800"/>
              </a:spcAft>
              <a:buFont typeface="Arial" panose="020B0604020202020204"/>
              <a:buNone/>
              <a:defRPr sz="1500">
                <a:solidFill>
                  <a:srgbClr val="F8FAFC"/>
                </a:solidFill>
              </a:defRPr>
            </a:pPr>
            <a:r>
              <a:rPr lang="zh-CN" sz="2800">
                <a:solidFill>
                  <a:srgbClr val="F8FAFC"/>
                </a:solidFill>
              </a:rPr>
              <a:t>感谢观看</a:t>
            </a:r>
            <a:endParaRPr lang="zh-CN" sz="2800">
              <a:solidFill>
                <a:srgbClr val="F8FAF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WPS 演示</Application>
  <PresentationFormat>Converted Presentation</PresentationFormat>
  <Paragraphs>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Arial</vt:lpstr>
      <vt:lpstr>Lora</vt:lpstr>
      <vt:lpstr>Roboto</vt:lpstr>
      <vt:lpstr>微软雅黑</vt:lpstr>
      <vt:lpstr>Arial Unicode MS</vt:lpstr>
      <vt:lpstr>Calibri</vt:lpstr>
      <vt:lpstr>Roboto</vt:lpstr>
      <vt:lpstr>Lora</vt:lpstr>
      <vt:lpstr>Default Codex Theme</vt:lpstr>
      <vt:lpstr>现场验证</vt:lpstr>
      <vt:lpstr>一个可运行现象</vt:lpstr>
      <vt:lpstr>现场验证优先跑短测试</vt:lpstr>
      <vt:lpstr>三个关键不变量支撑正确性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 个实验的现场验证</dc:title>
  <dc:creator>Walnut Exporter</dc:creator>
  <cp:lastModifiedBy>老贾</cp:lastModifiedBy>
  <cp:revision>1</cp:revision>
  <dcterms:created xsi:type="dcterms:W3CDTF">2026-08-14T10:26:04Z</dcterms:created>
  <dcterms:modified xsi:type="dcterms:W3CDTF">2026-08-14T10:26:04Z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D7EAE1C8E3994C75A4ED6AC4EC84FF73_12</vt:lpwstr>
  </property>
</Properties>
</file>